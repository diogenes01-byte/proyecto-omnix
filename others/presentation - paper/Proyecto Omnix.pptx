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BM Plex Sans Medium"/>
      <p:regular r:id="rId16"/>
    </p:embeddedFont>
    <p:embeddedFont>
      <p:font typeface="IBM Plex Sans Medium"/>
      <p:regular r:id="rId17"/>
    </p:embeddedFont>
    <p:embeddedFont>
      <p:font typeface="IBM Plex Sans Medium"/>
      <p:regular r:id="rId18"/>
    </p:embeddedFont>
    <p:embeddedFont>
      <p:font typeface="IBM Plex Sans Medium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99644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Proyecto Omnix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: análisis de datos económicos e insights impulsados por IA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6293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chatbot de decisión inteligente impulsado por RAG, diseñado para transformar el conocimiento macroeconómico complejo en respuestas accionables, precisas y fundamentadas.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806797"/>
            <a:ext cx="4922996" cy="426244"/>
          </a:xfrm>
          <a:prstGeom prst="roundRect">
            <a:avLst>
              <a:gd name="adj" fmla="val 6386"/>
            </a:avLst>
          </a:prstGeom>
          <a:solidFill>
            <a:srgbClr val="FFA44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5929193"/>
            <a:ext cx="181451" cy="181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2055" y="5874782"/>
            <a:ext cx="437864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FINAL DE MÁSTER EN DATA SCIENCE &amp; 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323" y="159425"/>
            <a:ext cx="5273754" cy="7910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4260" y="58769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 Problema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44260" y="999649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"El Conocimiento Económico Está Fragmentado"</a:t>
            </a:r>
            <a:endParaRPr lang="en-US" sz="4150" dirty="0"/>
          </a:p>
        </p:txBody>
      </p:sp>
      <p:sp>
        <p:nvSpPr>
          <p:cNvPr id="6" name="Shape 3"/>
          <p:cNvSpPr/>
          <p:nvPr/>
        </p:nvSpPr>
        <p:spPr>
          <a:xfrm>
            <a:off x="744260" y="2627590"/>
            <a:ext cx="3728085" cy="3271123"/>
          </a:xfrm>
          <a:prstGeom prst="roundRect">
            <a:avLst>
              <a:gd name="adj" fmla="val 975"/>
            </a:avLst>
          </a:prstGeom>
          <a:solidFill>
            <a:srgbClr val="484B51"/>
          </a:solidFill>
          <a:ln/>
        </p:spPr>
      </p:sp>
      <p:sp>
        <p:nvSpPr>
          <p:cNvPr id="7" name="Text 4"/>
          <p:cNvSpPr/>
          <p:nvPr/>
        </p:nvSpPr>
        <p:spPr>
          <a:xfrm>
            <a:off x="956905" y="2840236"/>
            <a:ext cx="3302794" cy="107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🔀</a:t>
            </a:r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Sobrecarga de Información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56905" y="4038243"/>
            <a:ext cx="3302794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Informes del FMI, reportes de bancos centrales, datos de mercado — dispersos en cientos de fuentes sin coherencia ni contexto unificado.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671655" y="2627590"/>
            <a:ext cx="3728085" cy="3271123"/>
          </a:xfrm>
          <a:prstGeom prst="roundRect">
            <a:avLst>
              <a:gd name="adj" fmla="val 975"/>
            </a:avLst>
          </a:prstGeom>
          <a:solidFill>
            <a:srgbClr val="484B51"/>
          </a:solidFill>
          <a:ln/>
        </p:spPr>
      </p:sp>
      <p:sp>
        <p:nvSpPr>
          <p:cNvPr id="10" name="Text 7"/>
          <p:cNvSpPr/>
          <p:nvPr/>
        </p:nvSpPr>
        <p:spPr>
          <a:xfrm>
            <a:off x="4884301" y="2840236"/>
            <a:ext cx="330279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⚠️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IA Generalista Sin Especialización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884301" y="3632002"/>
            <a:ext cx="3302794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convencionales carecen de grounding macroeconómico. Respuestas imprecisas,</a:t>
            </a:r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hallucinations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frecuentes, sin trazabilidad de fuentes.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4260" y="6098024"/>
            <a:ext cx="7655481" cy="1543883"/>
          </a:xfrm>
          <a:prstGeom prst="roundRect">
            <a:avLst>
              <a:gd name="adj" fmla="val 2066"/>
            </a:avLst>
          </a:prstGeom>
          <a:solidFill>
            <a:srgbClr val="484B51"/>
          </a:solidFill>
          <a:ln/>
        </p:spPr>
      </p:sp>
      <p:sp>
        <p:nvSpPr>
          <p:cNvPr id="13" name="Text 10"/>
          <p:cNvSpPr/>
          <p:nvPr/>
        </p:nvSpPr>
        <p:spPr>
          <a:xfrm>
            <a:off x="956905" y="6310670"/>
            <a:ext cx="2842855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⏱️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Alto Costo Cognitivo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956905" y="6770132"/>
            <a:ext cx="72301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Analistas, inversores y estudiantes invierten horas interpretando datos en lugar de tomar decisiones estratégicas fundamentadas.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042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 Solución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4628" y="886063"/>
            <a:ext cx="11139488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 Motor de Inteligencia Económica Basado en RAG</a:t>
            </a:r>
            <a:endParaRPr lang="en-US" sz="3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881188"/>
            <a:ext cx="4238506" cy="42385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38907" y="3725704"/>
            <a:ext cx="826424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omnix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combina un pipeline RAG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una base de conocimiento macroeconómico curada para entregar respuestas precisas, contextualizadas y trazables.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994" y="6475274"/>
            <a:ext cx="281702" cy="281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44943" y="6469499"/>
            <a:ext cx="320992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Preguntas en lenguaje natural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444943" y="6856214"/>
            <a:ext cx="358032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SQL, sin búsquedas manuales. Solo escribe tu pregunta económica.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0066" y="6475274"/>
            <a:ext cx="281702" cy="2817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30014" y="6469499"/>
            <a:ext cx="3580448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Respuestas fundamentadas en fuentes reales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830014" y="7149703"/>
            <a:ext cx="358044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respuesta cita el documento o dataset de origen.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5257" y="6475274"/>
            <a:ext cx="281702" cy="2817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15205" y="6469499"/>
            <a:ext cx="3580328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Contexto macroeconómico profundo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0215205" y="7149703"/>
            <a:ext cx="358032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Inflación, política monetaria, mercados, tendencias globales.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97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Casos de Uso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954768"/>
            <a:ext cx="6871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Proyecto Omnix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en Acción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03709"/>
            <a:ext cx="2411968" cy="1490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777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Análisis de Inflación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6827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"¿Por qué subió la inflación en la eurozona en Q3 2023?"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Respuesta inmediata con contexto histórico, datos del BCE y comparativa regional.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003709"/>
            <a:ext cx="2411968" cy="1490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777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Política Monetaria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26827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"¿Cuál es el impacto de las subidas de tasas de la Fed en mercados emergentes?"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Análisis multi-fuente con referencias a reportes oficiales.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003709"/>
            <a:ext cx="2411968" cy="1490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777859"/>
            <a:ext cx="30519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Tendencias de Mercado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26827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"¿Cómo reaccionaron los bonos del Tesoro ante el ciclo de endurecimiento monetario?"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Síntesis de datos de mercado con explicación causal.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46735"/>
            <a:ext cx="256829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Arquitectura del Sistema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079183" y="886658"/>
            <a:ext cx="946118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 Pipeline RAG: De la pregunta a la respuesta</a:t>
            </a:r>
            <a:endParaRPr lang="en-US" sz="3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18" y="1667351"/>
            <a:ext cx="12369046" cy="53338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2862" y="5989729"/>
            <a:ext cx="2806153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Generación LLM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962862" y="4755021"/>
            <a:ext cx="3472809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Augmentación de Contexto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962862" y="3532786"/>
            <a:ext cx="3685219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Embeddings &amp; Recuperación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62862" y="2298079"/>
            <a:ext cx="2806153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Consulta Usuario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9183" y="7163157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convierte cada pregunta en un vector semántico, recupera los fragmentos más relevantes de la base de conocimiento, y los inyecta como contexto al LLM — garantizando respuestas fundamentadas y auditables, sin alucinaciones.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7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Stack Tecnológico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22296"/>
            <a:ext cx="12522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Infraestructura de Producción Lista para Escalar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526387"/>
            <a:ext cx="2610088" cy="4670822"/>
          </a:xfrm>
          <a:prstGeom prst="roundRect">
            <a:avLst>
              <a:gd name="adj" fmla="val 1304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2556867"/>
            <a:ext cx="2549128" cy="680442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8693" y="2726888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464123"/>
            <a:ext cx="20955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Embeddings Semánticos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4399598"/>
            <a:ext cx="209550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de embeddings de alta dimensión (OpenAI) para representación vectorial del conocimiento económico.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3630692" y="2526387"/>
            <a:ext cx="2610207" cy="4670822"/>
          </a:xfrm>
          <a:prstGeom prst="roundRect">
            <a:avLst>
              <a:gd name="adj" fmla="val 1304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61172" y="2556867"/>
            <a:ext cx="2549247" cy="680442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5715" y="2726888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7986" y="3464123"/>
            <a:ext cx="20956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Base de Datos Vectorial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887986" y="4399598"/>
            <a:ext cx="209561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Pinecone / Chroma para búsqueda aproximada de vecinos más cercanos (ANN) con latencia sub-segundo.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6467713" y="2526387"/>
            <a:ext cx="2610207" cy="4670822"/>
          </a:xfrm>
          <a:prstGeom prst="roundRect">
            <a:avLst>
              <a:gd name="adj" fmla="val 1304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8193" y="2556867"/>
            <a:ext cx="2549247" cy="680442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2736" y="2726888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5007" y="3464123"/>
            <a:ext cx="20956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LLM + API Backend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725007" y="4399598"/>
            <a:ext cx="20956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 integrado via FastAPI, con orquestación Python y endpoints RESTful para integración empresarial.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8943" y="2759154"/>
            <a:ext cx="4205168" cy="4205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Valor de Negocio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78794"/>
            <a:ext cx="11238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Por Qué el proyecto omnix importa a escala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9410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10×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1253" y="3972878"/>
            <a:ext cx="28436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Velocidad de Decisión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46329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del tiempo de análisis macroeconómico frente a investigación manual tradicional.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29410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3972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Respuestas Trazables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446329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insight viene con cita de fuente, eliminando el riesgo de hallucination en contextos críticos.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29410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N+1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3972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Industrias Escalables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446329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framework RAG es agnóstico al dominio: legal, salud, regulatorio — mismo pipeline, nueva base de conocimiento.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17005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Omnix no es solo un chatbot — es una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de inteligencia especializada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puede integrarse en flujos de trabajo de analistas, plataformas fintech y sistemas de soporte a la decisión empresarial.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609362"/>
            <a:ext cx="335518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Aprendizajes y Mejoras Futuras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4628" y="965002"/>
            <a:ext cx="9414629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 Que Aprendimos — y Hacia Dónde Vamos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834628" y="194071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Aprendizajes Clave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1768" y="2386251"/>
            <a:ext cx="45720" cy="1886903"/>
          </a:xfrm>
          <a:prstGeom prst="rect">
            <a:avLst/>
          </a:prstGeom>
          <a:solidFill>
            <a:srgbClr val="FFA44F"/>
          </a:solidFill>
          <a:ln/>
        </p:spPr>
      </p:sp>
      <p:sp>
        <p:nvSpPr>
          <p:cNvPr id="6" name="Text 4"/>
          <p:cNvSpPr/>
          <p:nvPr/>
        </p:nvSpPr>
        <p:spPr>
          <a:xfrm>
            <a:off x="1068110" y="2409111"/>
            <a:ext cx="2794992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 calidad del chunking es crítica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8110" y="3151584"/>
            <a:ext cx="2794992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segmentación semántica del corpus económico impacta directamente la relevancia de recuperación.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034671" y="2386251"/>
            <a:ext cx="45720" cy="1886903"/>
          </a:xfrm>
          <a:prstGeom prst="rect">
            <a:avLst/>
          </a:prstGeom>
          <a:solidFill>
            <a:srgbClr val="FFA44F"/>
          </a:solidFill>
          <a:ln/>
        </p:spPr>
      </p:sp>
      <p:sp>
        <p:nvSpPr>
          <p:cNvPr id="9" name="Text 7"/>
          <p:cNvSpPr/>
          <p:nvPr/>
        </p:nvSpPr>
        <p:spPr>
          <a:xfrm>
            <a:off x="4291013" y="2409111"/>
            <a:ext cx="2794992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 prompt engineering es una ciencia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1013" y="3151584"/>
            <a:ext cx="2794992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Instrucciones bien diseñadas al LLM mejoran la coherencia y el tono de las respuestas económicas.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1768" y="4538543"/>
            <a:ext cx="45720" cy="1044059"/>
          </a:xfrm>
          <a:prstGeom prst="rect">
            <a:avLst/>
          </a:prstGeom>
          <a:solidFill>
            <a:srgbClr val="FFA4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8110" y="4561403"/>
            <a:ext cx="4508063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Evaluación RAG requiere métricas propias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8110" y="5010388"/>
            <a:ext cx="601789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RAGAS, faithfulness y answer relevance como KPIs de calidad del sistema.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51777" y="194071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Roadmap de Mejoras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51777" y="2409111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51777" y="2705457"/>
            <a:ext cx="6251377" cy="22860"/>
          </a:xfrm>
          <a:prstGeom prst="rect">
            <a:avLst/>
          </a:prstGeom>
          <a:solidFill>
            <a:srgbClr val="FFA44F"/>
          </a:solidFill>
          <a:ln/>
        </p:spPr>
      </p:sp>
      <p:sp>
        <p:nvSpPr>
          <p:cNvPr id="17" name="Text 15"/>
          <p:cNvSpPr/>
          <p:nvPr/>
        </p:nvSpPr>
        <p:spPr>
          <a:xfrm>
            <a:off x="7551777" y="2844998"/>
            <a:ext cx="339971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Ingesta de datos en tiempo real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51777" y="3293983"/>
            <a:ext cx="625137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Conectar APIs de Bloomberg, FRED, y BCE para actualización continua del knowledge base.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51777" y="4139684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51777" y="4436031"/>
            <a:ext cx="6251377" cy="22860"/>
          </a:xfrm>
          <a:prstGeom prst="rect">
            <a:avLst/>
          </a:prstGeom>
          <a:solidFill>
            <a:srgbClr val="FFA44F"/>
          </a:solidFill>
          <a:ln/>
        </p:spPr>
      </p:sp>
      <p:sp>
        <p:nvSpPr>
          <p:cNvPr id="21" name="Text 19"/>
          <p:cNvSpPr/>
          <p:nvPr/>
        </p:nvSpPr>
        <p:spPr>
          <a:xfrm>
            <a:off x="7551777" y="4575572"/>
            <a:ext cx="313967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Fine-tuning macroeconómico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51777" y="5024557"/>
            <a:ext cx="625137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Entrenar un LLM especializado sobre corpus económico propio para mayor precisión domain-specific.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51777" y="5870258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551777" y="6166604"/>
            <a:ext cx="6251377" cy="22860"/>
          </a:xfrm>
          <a:prstGeom prst="rect">
            <a:avLst/>
          </a:prstGeom>
          <a:solidFill>
            <a:srgbClr val="FFA44F"/>
          </a:solidFill>
          <a:ln/>
        </p:spPr>
      </p:sp>
      <p:sp>
        <p:nvSpPr>
          <p:cNvPr id="25" name="Text 23"/>
          <p:cNvSpPr/>
          <p:nvPr/>
        </p:nvSpPr>
        <p:spPr>
          <a:xfrm>
            <a:off x="7551777" y="630614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Interfaz multimodal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51777" y="6755130"/>
            <a:ext cx="625137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Integrar visualizaciones dinámicas de datos junto a las respuestas textuales del chatbot.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751" y="154067"/>
            <a:ext cx="5280898" cy="7921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376" y="60471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Conclusión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9376" y="1000244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Una Nueva Capa de Inteligencia Económica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27628" y="2773799"/>
            <a:ext cx="7396996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Omnix no reemplaza al economista — lo potencia. Transforma décadas de conocimiento macroeconómico en una conversación inteligente, instantánea y fundamentada.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9376" y="2564249"/>
            <a:ext cx="22860" cy="1359575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8" name="Shape 5"/>
          <p:cNvSpPr/>
          <p:nvPr/>
        </p:nvSpPr>
        <p:spPr>
          <a:xfrm>
            <a:off x="719376" y="4133374"/>
            <a:ext cx="7705249" cy="3491389"/>
          </a:xfrm>
          <a:prstGeom prst="roundRect">
            <a:avLst>
              <a:gd name="adj" fmla="val 883"/>
            </a:avLst>
          </a:prstGeom>
          <a:solidFill>
            <a:srgbClr val="484B51"/>
          </a:solidFill>
          <a:ln/>
        </p:spPr>
      </p:sp>
      <p:sp>
        <p:nvSpPr>
          <p:cNvPr id="9" name="Shape 6"/>
          <p:cNvSpPr/>
          <p:nvPr/>
        </p:nvSpPr>
        <p:spPr>
          <a:xfrm>
            <a:off x="719376" y="4133374"/>
            <a:ext cx="3852624" cy="2059186"/>
          </a:xfrm>
          <a:prstGeom prst="roundRect">
            <a:avLst>
              <a:gd name="adj" fmla="val 1497"/>
            </a:avLst>
          </a:prstGeom>
          <a:solidFill>
            <a:srgbClr val="484B51"/>
          </a:solidFill>
          <a:ln/>
        </p:spPr>
      </p:sp>
      <p:sp>
        <p:nvSpPr>
          <p:cNvPr id="10" name="Text 7"/>
          <p:cNvSpPr/>
          <p:nvPr/>
        </p:nvSpPr>
        <p:spPr>
          <a:xfrm>
            <a:off x="905589" y="431958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RAG como estándar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05589" y="4752380"/>
            <a:ext cx="3200757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futuro de la IA especializada está en la recuperación aumentada, no en el conocimiento estático.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0" y="4133374"/>
            <a:ext cx="3852624" cy="2059186"/>
          </a:xfrm>
          <a:prstGeom prst="rect">
            <a:avLst/>
          </a:prstGeom>
          <a:solidFill>
            <a:srgbClr val="484B51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4133374"/>
            <a:ext cx="22860" cy="2059186"/>
          </a:xfrm>
          <a:prstGeom prst="roundRect">
            <a:avLst>
              <a:gd name="adj" fmla="val 134884"/>
            </a:avLst>
          </a:prstGeom>
          <a:solidFill>
            <a:srgbClr val="61646A"/>
          </a:solidFill>
          <a:ln/>
        </p:spPr>
      </p:sp>
      <p:sp>
        <p:nvSpPr>
          <p:cNvPr id="14" name="Text 11"/>
          <p:cNvSpPr/>
          <p:nvPr/>
        </p:nvSpPr>
        <p:spPr>
          <a:xfrm>
            <a:off x="5037653" y="4319587"/>
            <a:ext cx="261282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Escalabilidad probada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37653" y="4752380"/>
            <a:ext cx="3200757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framework que puede conquistar cualquier vertical de conocimiento intensivo en datos.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15063" y="4905970"/>
            <a:ext cx="513874" cy="513874"/>
          </a:xfrm>
          <a:prstGeom prst="roundRect">
            <a:avLst>
              <a:gd name="adj" fmla="val 6000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3532" y="5034320"/>
            <a:ext cx="256937" cy="25693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19376" y="6192560"/>
            <a:ext cx="7705249" cy="1432203"/>
          </a:xfrm>
          <a:prstGeom prst="rect">
            <a:avLst/>
          </a:prstGeom>
          <a:solidFill>
            <a:srgbClr val="484B51"/>
          </a:solidFill>
          <a:ln/>
        </p:spPr>
      </p:sp>
      <p:sp>
        <p:nvSpPr>
          <p:cNvPr id="19" name="Shape 15"/>
          <p:cNvSpPr/>
          <p:nvPr/>
        </p:nvSpPr>
        <p:spPr>
          <a:xfrm>
            <a:off x="719376" y="6192560"/>
            <a:ext cx="7705249" cy="22860"/>
          </a:xfrm>
          <a:prstGeom prst="roundRect">
            <a:avLst>
              <a:gd name="adj" fmla="val 134884"/>
            </a:avLst>
          </a:prstGeom>
          <a:solidFill>
            <a:srgbClr val="61646A"/>
          </a:solidFill>
          <a:ln/>
        </p:spPr>
      </p:sp>
      <p:sp>
        <p:nvSpPr>
          <p:cNvPr id="20" name="Text 16"/>
          <p:cNvSpPr/>
          <p:nvPr/>
        </p:nvSpPr>
        <p:spPr>
          <a:xfrm>
            <a:off x="905589" y="637877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Listo para producción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905589" y="6811566"/>
            <a:ext cx="7053382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 modular, API-first y lista para integrarse en ecosistemas empresariales reales.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2026-04-13T17:17:46Z</dcterms:created>
  <dcterms:modified xsi:type="dcterms:W3CDTF">2026-04-13T17:17:46Z</dcterms:modified>
</cp:coreProperties>
</file>